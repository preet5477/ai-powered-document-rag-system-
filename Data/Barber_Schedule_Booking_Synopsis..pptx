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73" d="100"/>
          <a:sy n="73" d="100"/>
        </p:scale>
        <p:origin x="-1296"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 name="Google Shape;5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 name="Google Shape;6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 name="Google Shape;7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544213AF-26F6-41FA-8D85-E2C5388D6E58}" type="datetimeFigureOut">
              <a:rPr lang="en-US" smtClean="0"/>
              <a:pPr/>
              <a:t>16-Oct-25</a:t>
            </a:fld>
            <a:endParaRPr lang="en-US" dirty="0">
              <a:solidFill>
                <a:srgbClr val="FFFFFF"/>
              </a:solidFill>
            </a:endParaRPr>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kumimoji="0" lang="en-US">
              <a:solidFill>
                <a:schemeClr val="accent1">
                  <a:tint val="20000"/>
                </a:schemeClr>
              </a:solidFill>
            </a:endParaRPr>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544213AF-26F6-41FA-8D85-E2C5388D6E58}" type="datetimeFigureOut">
              <a:rPr lang="en-US" smtClean="0"/>
              <a:pPr/>
              <a:t>16-Oct-25</a:t>
            </a:fld>
            <a:endParaRPr lang="en-US"/>
          </a:p>
        </p:txBody>
      </p:sp>
      <p:sp>
        <p:nvSpPr>
          <p:cNvPr id="5" name="Footer Placeholder 4"/>
          <p:cNvSpPr>
            <a:spLocks noGrp="1"/>
          </p:cNvSpPr>
          <p:nvPr>
            <p:ph type="ftr" sz="quarter" idx="11"/>
          </p:nvPr>
        </p:nvSpPr>
        <p:spPr/>
        <p:txBody>
          <a:bodyPr/>
          <a:lstStyle>
            <a:extLst/>
          </a:lstStyle>
          <a:p>
            <a:endParaRPr kumimoji="0" lang="en-US"/>
          </a:p>
        </p:txBody>
      </p:sp>
      <p:sp>
        <p:nvSpPr>
          <p:cNvPr id="6" name="Slide Number Placeholder 5"/>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44213AF-26F6-41FA-8D85-E2C5388D6E58}" type="datetimeFigureOut">
              <a:rPr lang="en-US" smtClean="0"/>
              <a:pPr/>
              <a:t>16-Oct-25</a:t>
            </a:fld>
            <a:endParaRPr lang="en-US"/>
          </a:p>
        </p:txBody>
      </p:sp>
      <p:sp>
        <p:nvSpPr>
          <p:cNvPr id="6" name="Footer Placeholder 5"/>
          <p:cNvSpPr>
            <a:spLocks noGrp="1"/>
          </p:cNvSpPr>
          <p:nvPr>
            <p:ph type="ftr" sz="quarter" idx="11"/>
          </p:nvPr>
        </p:nvSpPr>
        <p:spPr/>
        <p:txBody>
          <a:bodyPr/>
          <a:lstStyle>
            <a:extLst/>
          </a:lstStyle>
          <a:p>
            <a:endParaRPr kumimoji="0" lang="en-US"/>
          </a:p>
        </p:txBody>
      </p:sp>
      <p:sp>
        <p:nvSpPr>
          <p:cNvPr id="7" name="Slide Number Placeholder 6"/>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544213AF-26F6-41FA-8D85-E2C5388D6E58}" type="datetimeFigureOut">
              <a:rPr lang="en-US" smtClean="0"/>
              <a:pPr/>
              <a:t>16-Oct-25</a:t>
            </a:fld>
            <a:endParaRPr lang="en-US"/>
          </a:p>
        </p:txBody>
      </p:sp>
      <p:sp>
        <p:nvSpPr>
          <p:cNvPr id="8" name="Footer Placeholder 7"/>
          <p:cNvSpPr>
            <a:spLocks noGrp="1"/>
          </p:cNvSpPr>
          <p:nvPr>
            <p:ph type="ftr" sz="quarter" idx="11"/>
          </p:nvPr>
        </p:nvSpPr>
        <p:spPr/>
        <p:txBody>
          <a:bodyPr/>
          <a:lstStyle>
            <a:extLst/>
          </a:lstStyle>
          <a:p>
            <a:endParaRPr kumimoji="0" lang="en-US"/>
          </a:p>
        </p:txBody>
      </p:sp>
      <p:sp>
        <p:nvSpPr>
          <p:cNvPr id="9" name="Slide Number Placeholder 8"/>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overrideClrMapping bg1="lt1" tx1="dk1" bg2="lt2" tx2="dk2" accent1="accent1" accent2="accent2" accent3="accent3" accent4="accent4" accent5="accent5" accent6="accent6" hlink="hlink" folHlink="folHlink"/>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544213AF-26F6-41FA-8D85-E2C5388D6E58}" type="datetimeFigureOut">
              <a:rPr lang="en-US" smtClean="0"/>
              <a:pPr/>
              <a:t>16-Oct-25</a:t>
            </a:fld>
            <a:endParaRPr lang="en-US"/>
          </a:p>
        </p:txBody>
      </p:sp>
      <p:sp>
        <p:nvSpPr>
          <p:cNvPr id="4" name="Footer Placeholder 3"/>
          <p:cNvSpPr>
            <a:spLocks noGrp="1"/>
          </p:cNvSpPr>
          <p:nvPr>
            <p:ph type="ftr" sz="quarter" idx="11"/>
          </p:nvPr>
        </p:nvSpPr>
        <p:spPr/>
        <p:txBody>
          <a:bodyPr/>
          <a:lstStyle>
            <a:extLst/>
          </a:lstStyle>
          <a:p>
            <a:endParaRPr kumimoji="0" lang="en-US"/>
          </a:p>
        </p:txBody>
      </p:sp>
      <p:sp>
        <p:nvSpPr>
          <p:cNvPr id="5" name="Slide Number Placeholder 4"/>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544213AF-26F6-41FA-8D85-E2C5388D6E58}" type="datetimeFigureOut">
              <a:rPr lang="en-US" smtClean="0"/>
              <a:pPr/>
              <a:t>16-Oct-25</a:t>
            </a:fld>
            <a:endParaRPr lang="en-US"/>
          </a:p>
        </p:txBody>
      </p:sp>
      <p:sp>
        <p:nvSpPr>
          <p:cNvPr id="3" name="Footer Placeholder 2"/>
          <p:cNvSpPr>
            <a:spLocks noGrp="1"/>
          </p:cNvSpPr>
          <p:nvPr>
            <p:ph type="ftr" sz="quarter" idx="11"/>
          </p:nvPr>
        </p:nvSpPr>
        <p:spPr/>
        <p:txBody>
          <a:bodyPr/>
          <a:lstStyle>
            <a:extLst/>
          </a:lstStyle>
          <a:p>
            <a:endParaRPr kumimoji="0" lang="en-US"/>
          </a:p>
        </p:txBody>
      </p:sp>
      <p:sp>
        <p:nvSpPr>
          <p:cNvPr id="4" name="Slide Number Placeholder 3"/>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544213AF-26F6-41FA-8D85-E2C5388D6E58}" type="datetimeFigureOut">
              <a:rPr lang="en-US" smtClean="0"/>
              <a:pPr/>
              <a:t>16-Oct-25</a:t>
            </a:fld>
            <a:endParaRPr lang="en-US"/>
          </a:p>
        </p:txBody>
      </p:sp>
      <p:sp>
        <p:nvSpPr>
          <p:cNvPr id="6" name="Footer Placeholder 5"/>
          <p:cNvSpPr>
            <a:spLocks noGrp="1"/>
          </p:cNvSpPr>
          <p:nvPr>
            <p:ph type="ftr" sz="quarter" idx="11"/>
          </p:nvPr>
        </p:nvSpPr>
        <p:spPr/>
        <p:txBody>
          <a:bodyPr/>
          <a:lstStyle>
            <a:extLst/>
          </a:lstStyle>
          <a:p>
            <a:endParaRPr kumimoji="0" lang="en-US"/>
          </a:p>
        </p:txBody>
      </p:sp>
      <p:sp>
        <p:nvSpPr>
          <p:cNvPr id="7" name="Slide Number Placeholder 6"/>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overrideClrMapping bg1="lt1" tx1="dk1" bg2="lt2" tx2="dk2" accent1="accent1" accent2="accent2" accent3="accent3" accent4="accent4" accent5="accent5" accent6="accent6" hlink="hlink" folHlink="folHlink"/>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544213AF-26F6-41FA-8D85-E2C5388D6E58}" type="datetimeFigureOut">
              <a:rPr lang="en-US" smtClean="0"/>
              <a:pPr/>
              <a:t>16-Oct-25</a:t>
            </a:fld>
            <a:endParaRPr lang="en-US">
              <a:solidFill>
                <a:schemeClr val="tx1"/>
              </a:solidFill>
            </a:endParaRPr>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kumimoji="0" lang="en-US">
              <a:solidFill>
                <a:schemeClr val="tx1"/>
              </a:solidFill>
            </a:endParaRPr>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44213AF-26F6-41FA-8D85-E2C5388D6E58}" type="datetimeFigureOut">
              <a:rPr lang="en-US" smtClean="0"/>
              <a:pPr/>
              <a:t>16-Oct-25</a:t>
            </a:fld>
            <a:endParaRPr lang="en-US"/>
          </a:p>
        </p:txBody>
      </p:sp>
      <p:sp>
        <p:nvSpPr>
          <p:cNvPr id="5" name="Footer Placeholder 4"/>
          <p:cNvSpPr>
            <a:spLocks noGrp="1"/>
          </p:cNvSpPr>
          <p:nvPr>
            <p:ph type="ftr" sz="quarter" idx="11"/>
          </p:nvPr>
        </p:nvSpPr>
        <p:spPr/>
        <p:txBody>
          <a:bodyPr/>
          <a:lstStyle>
            <a:extLst/>
          </a:lstStyle>
          <a:p>
            <a:endParaRPr kumimoji="0" lang="en-US"/>
          </a:p>
        </p:txBody>
      </p:sp>
      <p:sp>
        <p:nvSpPr>
          <p:cNvPr id="6" name="Slide Number Placeholder 5"/>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44213AF-26F6-41FA-8D85-E2C5388D6E58}" type="datetimeFigureOut">
              <a:rPr lang="en-US" smtClean="0"/>
              <a:pPr/>
              <a:t>16-Oct-25</a:t>
            </a:fld>
            <a:endParaRPr lang="en-US"/>
          </a:p>
        </p:txBody>
      </p:sp>
      <p:sp>
        <p:nvSpPr>
          <p:cNvPr id="5" name="Footer Placeholder 4"/>
          <p:cNvSpPr>
            <a:spLocks noGrp="1"/>
          </p:cNvSpPr>
          <p:nvPr>
            <p:ph type="ftr" sz="quarter" idx="11"/>
          </p:nvPr>
        </p:nvSpPr>
        <p:spPr/>
        <p:txBody>
          <a:bodyPr/>
          <a:lstStyle>
            <a:extLst/>
          </a:lstStyle>
          <a:p>
            <a:endParaRPr kumimoji="0" lang="en-US"/>
          </a:p>
        </p:txBody>
      </p:sp>
      <p:sp>
        <p:nvSpPr>
          <p:cNvPr id="6" name="Slide Number Placeholder 5"/>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544213AF-26F6-41FA-8D85-E2C5388D6E58}" type="datetimeFigureOut">
              <a:rPr lang="en-US" smtClean="0"/>
              <a:pPr/>
              <a:t>16-Oct-25</a:t>
            </a:fld>
            <a:endParaRPr lang="en-US" sz="1000" dirty="0">
              <a:solidFill>
                <a:schemeClr val="tx1"/>
              </a:solidFill>
            </a:endParaRPr>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pPr algn="r" eaLnBrk="1" latinLnBrk="0" hangingPunct="1"/>
            <a:endParaRPr kumimoji="0" lang="en-US" sz="1000" dirty="0">
              <a:solidFill>
                <a:schemeClr val="tx1"/>
              </a:solidFill>
            </a:endParaRPr>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53466" y="2386050"/>
            <a:ext cx="7826700" cy="20859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003366"/>
              </a:buClr>
              <a:buSzPts val="3600"/>
              <a:buFont typeface="Times New Roman"/>
              <a:buNone/>
            </a:pPr>
            <a:r>
              <a:rPr lang="en-US" sz="3600" b="1" dirty="0">
                <a:solidFill>
                  <a:srgbClr val="003366"/>
                </a:solidFill>
                <a:latin typeface="Times New Roman"/>
                <a:ea typeface="Times New Roman"/>
                <a:cs typeface="Times New Roman"/>
                <a:sym typeface="Times New Roman"/>
              </a:rPr>
              <a:t>         </a:t>
            </a:r>
            <a:r>
              <a:rPr lang="en-US" sz="3600" b="1">
                <a:solidFill>
                  <a:srgbClr val="003366"/>
                </a:solidFill>
                <a:latin typeface="Times New Roman"/>
                <a:ea typeface="Times New Roman"/>
                <a:cs typeface="Times New Roman"/>
                <a:sym typeface="Times New Roman"/>
              </a:rPr>
              <a:t>Barber </a:t>
            </a:r>
            <a:r>
              <a:rPr lang="en-US" sz="3600" b="1" smtClean="0">
                <a:solidFill>
                  <a:srgbClr val="003366"/>
                </a:solidFill>
                <a:latin typeface="Times New Roman"/>
                <a:ea typeface="Times New Roman"/>
                <a:cs typeface="Times New Roman"/>
                <a:sym typeface="Times New Roman"/>
              </a:rPr>
              <a:t>Schedule Booking</a:t>
            </a:r>
            <a:endParaRPr sz="3600" b="1">
              <a:solidFill>
                <a:srgbClr val="003366"/>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rgbClr val="003366"/>
              </a:buClr>
              <a:buSzPts val="3600"/>
              <a:buFont typeface="Times New Roman"/>
              <a:buNone/>
            </a:pPr>
            <a:r>
              <a:rPr lang="en-US" sz="3600" b="1" dirty="0">
                <a:solidFill>
                  <a:srgbClr val="003366"/>
                </a:solidFill>
                <a:latin typeface="Times New Roman"/>
                <a:ea typeface="Times New Roman"/>
                <a:cs typeface="Times New Roman"/>
                <a:sym typeface="Times New Roman"/>
              </a:rPr>
              <a:t>                           system</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64"/>
        <p:cNvGrpSpPr/>
        <p:nvPr/>
      </p:nvGrpSpPr>
      <p:grpSpPr>
        <a:xfrm>
          <a:off x="0" y="0"/>
          <a:ext cx="0" cy="0"/>
          <a:chOff x="0" y="0"/>
          <a:chExt cx="0" cy="0"/>
        </a:xfrm>
      </p:grpSpPr>
      <p:sp>
        <p:nvSpPr>
          <p:cNvPr id="66" name="Google Shape;66;p15"/>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l" rtl="0">
              <a:lnSpc>
                <a:spcPct val="115000"/>
              </a:lnSpc>
              <a:spcBef>
                <a:spcPts val="0"/>
              </a:spcBef>
              <a:spcAft>
                <a:spcPts val="0"/>
              </a:spcAft>
              <a:buClr>
                <a:srgbClr val="282828"/>
              </a:buClr>
              <a:buSzPts val="2400"/>
              <a:buChar char="●"/>
            </a:pPr>
            <a:r>
              <a:rPr lang="en-US" sz="2400" b="1" dirty="0" err="1">
                <a:solidFill>
                  <a:srgbClr val="282828"/>
                </a:solidFill>
              </a:rPr>
              <a:t>Raunak</a:t>
            </a:r>
            <a:r>
              <a:rPr lang="en-US" sz="2400" b="1" dirty="0">
                <a:solidFill>
                  <a:srgbClr val="282828"/>
                </a:solidFill>
              </a:rPr>
              <a:t> Gupta</a:t>
            </a:r>
            <a:endParaRPr sz="2400" b="1">
              <a:solidFill>
                <a:srgbClr val="282828"/>
              </a:solidFill>
            </a:endParaRPr>
          </a:p>
          <a:p>
            <a:pPr marL="342900" lvl="0" indent="0" algn="l" rtl="0">
              <a:lnSpc>
                <a:spcPct val="115000"/>
              </a:lnSpc>
              <a:spcBef>
                <a:spcPts val="0"/>
              </a:spcBef>
              <a:spcAft>
                <a:spcPts val="0"/>
              </a:spcAft>
              <a:buSzPts val="1800"/>
              <a:buNone/>
            </a:pPr>
            <a:endParaRPr sz="2400">
              <a:solidFill>
                <a:srgbClr val="282828"/>
              </a:solidFill>
            </a:endParaRPr>
          </a:p>
          <a:p>
            <a:pPr marL="342900" lvl="0" indent="-342900" algn="l" rtl="0">
              <a:lnSpc>
                <a:spcPct val="115000"/>
              </a:lnSpc>
              <a:spcBef>
                <a:spcPts val="480"/>
              </a:spcBef>
              <a:spcAft>
                <a:spcPts val="0"/>
              </a:spcAft>
              <a:buClr>
                <a:srgbClr val="282828"/>
              </a:buClr>
              <a:buSzPts val="2400"/>
              <a:buChar char="●"/>
            </a:pPr>
            <a:r>
              <a:rPr lang="en-US" sz="2400" b="1" dirty="0">
                <a:solidFill>
                  <a:srgbClr val="282828"/>
                </a:solidFill>
              </a:rPr>
              <a:t>Nikita Yogi</a:t>
            </a:r>
            <a:endParaRPr sz="2400" b="1">
              <a:solidFill>
                <a:srgbClr val="282828"/>
              </a:solidFill>
            </a:endParaRPr>
          </a:p>
          <a:p>
            <a:pPr marL="342900" lvl="0" indent="0" algn="l" rtl="0">
              <a:lnSpc>
                <a:spcPct val="115000"/>
              </a:lnSpc>
              <a:spcBef>
                <a:spcPts val="480"/>
              </a:spcBef>
              <a:spcAft>
                <a:spcPts val="0"/>
              </a:spcAft>
              <a:buSzPts val="1800"/>
              <a:buNone/>
            </a:pPr>
            <a:endParaRPr sz="2400">
              <a:solidFill>
                <a:srgbClr val="282828"/>
              </a:solidFill>
            </a:endParaRPr>
          </a:p>
          <a:p>
            <a:pPr marL="342900" lvl="0" indent="-342900" algn="l" rtl="0">
              <a:lnSpc>
                <a:spcPct val="115000"/>
              </a:lnSpc>
              <a:spcBef>
                <a:spcPts val="480"/>
              </a:spcBef>
              <a:spcAft>
                <a:spcPts val="0"/>
              </a:spcAft>
              <a:buClr>
                <a:srgbClr val="282828"/>
              </a:buClr>
              <a:buSzPts val="2400"/>
              <a:buChar char="●"/>
            </a:pPr>
            <a:r>
              <a:rPr lang="en-US" sz="2400" b="1" dirty="0" err="1">
                <a:solidFill>
                  <a:srgbClr val="282828"/>
                </a:solidFill>
              </a:rPr>
              <a:t>Preet</a:t>
            </a:r>
            <a:r>
              <a:rPr lang="en-US" sz="2400" b="1" dirty="0">
                <a:solidFill>
                  <a:srgbClr val="282828"/>
                </a:solidFill>
              </a:rPr>
              <a:t> </a:t>
            </a:r>
            <a:r>
              <a:rPr lang="en-US" sz="2400" b="1" dirty="0" err="1">
                <a:solidFill>
                  <a:srgbClr val="282828"/>
                </a:solidFill>
              </a:rPr>
              <a:t>Choudhary</a:t>
            </a:r>
            <a:endParaRPr sz="2400" b="1">
              <a:solidFill>
                <a:srgbClr val="282828"/>
              </a:solidFill>
            </a:endParaRPr>
          </a:p>
          <a:p>
            <a:pPr marL="342900" lvl="0" indent="0" algn="l" rtl="0">
              <a:lnSpc>
                <a:spcPct val="115000"/>
              </a:lnSpc>
              <a:spcBef>
                <a:spcPts val="1200"/>
              </a:spcBef>
              <a:spcAft>
                <a:spcPts val="1200"/>
              </a:spcAft>
              <a:buSzPts val="1800"/>
              <a:buNone/>
            </a:pPr>
            <a:endParaRPr sz="2400">
              <a:solidFill>
                <a:srgbClr val="282828"/>
              </a:solidFill>
            </a:endParaRPr>
          </a:p>
        </p:txBody>
      </p:sp>
      <p:sp>
        <p:nvSpPr>
          <p:cNvPr id="65" name="Google Shape;65;p1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003366"/>
              </a:buClr>
              <a:buSzPts val="3600"/>
              <a:buFont typeface="Times New Roman"/>
              <a:buNone/>
            </a:pPr>
            <a:r>
              <a:rPr lang="en-US" sz="3600" b="1">
                <a:solidFill>
                  <a:srgbClr val="003366"/>
                </a:solidFill>
                <a:latin typeface="Times New Roman"/>
                <a:ea typeface="Times New Roman"/>
                <a:cs typeface="Times New Roman"/>
                <a:sym typeface="Times New Roman"/>
              </a:rPr>
              <a:t>Project Members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70"/>
        <p:cNvGrpSpPr/>
        <p:nvPr/>
      </p:nvGrpSpPr>
      <p:grpSpPr>
        <a:xfrm>
          <a:off x="0" y="0"/>
          <a:ext cx="0" cy="0"/>
          <a:chOff x="0" y="0"/>
          <a:chExt cx="0" cy="0"/>
        </a:xfrm>
      </p:grpSpPr>
      <p:sp>
        <p:nvSpPr>
          <p:cNvPr id="72" name="Google Shape;72;p16"/>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10000"/>
          </a:bodyPr>
          <a:lstStyle/>
          <a:p>
            <a:pPr marL="342900" lvl="0" indent="0" algn="l" rtl="0">
              <a:lnSpc>
                <a:spcPct val="115000"/>
              </a:lnSpc>
              <a:spcBef>
                <a:spcPts val="0"/>
              </a:spcBef>
              <a:spcAft>
                <a:spcPts val="0"/>
              </a:spcAft>
              <a:buSzPts val="1800"/>
              <a:buNone/>
            </a:pPr>
            <a:r>
              <a:rPr lang="en-US" sz="2200" dirty="0">
                <a:solidFill>
                  <a:srgbClr val="282828"/>
                </a:solidFill>
                <a:latin typeface="Calibri"/>
                <a:ea typeface="Calibri"/>
                <a:cs typeface="Calibri"/>
                <a:sym typeface="Calibri"/>
              </a:rPr>
              <a:t>The Barber Scheduled Booking System is a web-based application developed using the MERN stack to digitalize barbershop appointment management. It helps users schedule services according to barber availability and reduces waiting time. The system also considers shop hours, holidays, and breaks, ensuring both convenience and productivity for barbers and customers.</a:t>
            </a:r>
            <a:endParaRPr/>
          </a:p>
          <a:p>
            <a:pPr marL="342900" lvl="0" indent="-203200" algn="l" rtl="0">
              <a:lnSpc>
                <a:spcPct val="115000"/>
              </a:lnSpc>
              <a:spcBef>
                <a:spcPts val="440"/>
              </a:spcBef>
              <a:spcAft>
                <a:spcPts val="0"/>
              </a:spcAft>
              <a:buClr>
                <a:srgbClr val="282828"/>
              </a:buClr>
              <a:buSzPts val="2200"/>
              <a:buNone/>
            </a:pPr>
            <a:endParaRPr sz="2200">
              <a:solidFill>
                <a:srgbClr val="282828"/>
              </a:solidFill>
              <a:latin typeface="Calibri"/>
              <a:ea typeface="Calibri"/>
              <a:cs typeface="Calibri"/>
              <a:sym typeface="Calibri"/>
            </a:endParaRPr>
          </a:p>
          <a:p>
            <a:pPr marL="342900" lvl="0" indent="0" algn="l" rtl="0">
              <a:lnSpc>
                <a:spcPct val="115000"/>
              </a:lnSpc>
              <a:spcBef>
                <a:spcPts val="440"/>
              </a:spcBef>
              <a:spcAft>
                <a:spcPts val="1200"/>
              </a:spcAft>
              <a:buSzPts val="1800"/>
              <a:buNone/>
            </a:pPr>
            <a:r>
              <a:rPr lang="en-US" sz="2200" dirty="0">
                <a:solidFill>
                  <a:srgbClr val="282828"/>
                </a:solidFill>
                <a:latin typeface="Calibri"/>
                <a:ea typeface="Calibri"/>
                <a:cs typeface="Calibri"/>
                <a:sym typeface="Calibri"/>
              </a:rPr>
              <a:t>By automating the scheduling process, this system aims to improve customer satisfaction, reduce administrative effort, minimize human error, and increase operational efficiency. The project ultimately supports the digital transformation of barber shop businesses and aligns with the growing demand for accessible and user-friendly service booking platforms.</a:t>
            </a:r>
            <a:endParaRPr/>
          </a:p>
        </p:txBody>
      </p:sp>
      <p:sp>
        <p:nvSpPr>
          <p:cNvPr id="71" name="Google Shape;71;p1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003366"/>
              </a:buClr>
              <a:buSzPts val="3400"/>
              <a:buFont typeface="Times New Roman"/>
              <a:buNone/>
            </a:pPr>
            <a:r>
              <a:rPr lang="en-US" sz="3400" b="1">
                <a:solidFill>
                  <a:srgbClr val="003366"/>
                </a:solidFill>
                <a:latin typeface="Times New Roman"/>
                <a:ea typeface="Times New Roman"/>
                <a:cs typeface="Times New Roman"/>
                <a:sym typeface="Times New Roman"/>
              </a:rPr>
              <a:t>Introduction / Background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76"/>
        <p:cNvGrpSpPr/>
        <p:nvPr/>
      </p:nvGrpSpPr>
      <p:grpSpPr>
        <a:xfrm>
          <a:off x="0" y="0"/>
          <a:ext cx="0" cy="0"/>
          <a:chOff x="0" y="0"/>
          <a:chExt cx="0" cy="0"/>
        </a:xfrm>
      </p:grpSpPr>
      <p:sp>
        <p:nvSpPr>
          <p:cNvPr id="78" name="Google Shape;78;p17"/>
          <p:cNvSpPr txBox="1">
            <a:spLocks noGrp="1"/>
          </p:cNvSpPr>
          <p:nvPr>
            <p:ph idx="1"/>
          </p:nvPr>
        </p:nvSpPr>
        <p:spPr>
          <a:xfrm>
            <a:off x="457200" y="1600200"/>
            <a:ext cx="8229600" cy="4853400"/>
          </a:xfrm>
          <a:prstGeom prst="rect">
            <a:avLst/>
          </a:prstGeom>
          <a:noFill/>
          <a:ln>
            <a:noFill/>
          </a:ln>
        </p:spPr>
        <p:txBody>
          <a:bodyPr spcFirstLastPara="1" wrap="square" lIns="91425" tIns="45700" rIns="91425" bIns="45700" anchor="t" anchorCtr="0">
            <a:normAutofit/>
          </a:bodyPr>
          <a:lstStyle/>
          <a:p>
            <a:r>
              <a:rPr lang="en-US" sz="2000" dirty="0" smtClean="0">
                <a:latin typeface="Calibri" pitchFamily="34" charset="0"/>
                <a:cs typeface="Calibri" pitchFamily="34" charset="0"/>
              </a:rPr>
              <a:t>To automate the process of booking and scheduling barber services.</a:t>
            </a:r>
          </a:p>
          <a:p>
            <a:r>
              <a:rPr lang="en-US" sz="2000" dirty="0" smtClean="0">
                <a:latin typeface="Calibri" pitchFamily="34" charset="0"/>
                <a:cs typeface="Calibri" pitchFamily="34" charset="0"/>
              </a:rPr>
              <a:t>To provide a smooth and efficient interface for customers and barbers.</a:t>
            </a:r>
          </a:p>
          <a:p>
            <a:r>
              <a:rPr lang="en-US" sz="2000" dirty="0" smtClean="0">
                <a:latin typeface="Calibri" pitchFamily="34" charset="0"/>
                <a:cs typeface="Calibri" pitchFamily="34" charset="0"/>
              </a:rPr>
              <a:t>To minimize appointment conflicts and manage service durations effectively.</a:t>
            </a:r>
          </a:p>
          <a:p>
            <a:r>
              <a:rPr lang="en-US" sz="2000" dirty="0" smtClean="0">
                <a:latin typeface="Calibri" pitchFamily="34" charset="0"/>
                <a:cs typeface="Calibri" pitchFamily="34" charset="0"/>
              </a:rPr>
              <a:t>To integrate shop timings, lunch breaks, and holidays in the scheduling system.</a:t>
            </a:r>
          </a:p>
          <a:p>
            <a:r>
              <a:rPr lang="en-US" sz="2000" dirty="0" smtClean="0">
                <a:latin typeface="Calibri" pitchFamily="34" charset="0"/>
                <a:cs typeface="Calibri" pitchFamily="34" charset="0"/>
              </a:rPr>
              <a:t>To improve customer satisfaction and optimize time utilization.</a:t>
            </a:r>
          </a:p>
          <a:p>
            <a:r>
              <a:rPr lang="en-US" sz="2000" dirty="0" smtClean="0">
                <a:latin typeface="Calibri" pitchFamily="34" charset="0"/>
                <a:cs typeface="Calibri" pitchFamily="34" charset="0"/>
              </a:rPr>
              <a:t>To prevent overlapping bookings.</a:t>
            </a:r>
          </a:p>
          <a:p>
            <a:r>
              <a:rPr lang="en-US" sz="2000" dirty="0" smtClean="0">
                <a:latin typeface="Calibri" pitchFamily="34" charset="0"/>
                <a:cs typeface="Calibri" pitchFamily="34" charset="0"/>
              </a:rPr>
              <a:t>To enable the admin to manage services, users, and schedules.</a:t>
            </a:r>
          </a:p>
          <a:p>
            <a:r>
              <a:rPr lang="en-US" sz="2000" dirty="0" smtClean="0">
                <a:latin typeface="Calibri" pitchFamily="34" charset="0"/>
                <a:cs typeface="Calibri" pitchFamily="34" charset="0"/>
              </a:rPr>
              <a:t>To ensure the system is easy to use with minimal training.</a:t>
            </a:r>
          </a:p>
          <a:p>
            <a:r>
              <a:rPr lang="en-US" sz="2000" dirty="0" smtClean="0">
                <a:latin typeface="Calibri" pitchFamily="34" charset="0"/>
                <a:cs typeface="Calibri" pitchFamily="34" charset="0"/>
              </a:rPr>
              <a:t>To display available time slots dynamically.</a:t>
            </a:r>
          </a:p>
          <a:p>
            <a:r>
              <a:rPr lang="en-US" sz="2000" dirty="0" smtClean="0">
                <a:latin typeface="Calibri" pitchFamily="34" charset="0"/>
                <a:cs typeface="Calibri" pitchFamily="34" charset="0"/>
              </a:rPr>
              <a:t>To provide a responsive and mobile-friendly interface.</a:t>
            </a:r>
          </a:p>
          <a:p>
            <a:r>
              <a:rPr lang="en-US" sz="2000" dirty="0" smtClean="0">
                <a:latin typeface="Calibri" pitchFamily="34" charset="0"/>
                <a:cs typeface="Calibri" pitchFamily="34" charset="0"/>
              </a:rPr>
              <a:t>To store user data securely and comply with privacy standards.</a:t>
            </a:r>
            <a:endParaRPr lang="en-US" sz="2000" dirty="0">
              <a:latin typeface="Calibri" pitchFamily="34" charset="0"/>
              <a:cs typeface="Calibri" pitchFamily="34" charset="0"/>
            </a:endParaRPr>
          </a:p>
        </p:txBody>
      </p:sp>
      <p:sp>
        <p:nvSpPr>
          <p:cNvPr id="77" name="Google Shape;77;p1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003366"/>
              </a:buClr>
              <a:buSzPts val="3400"/>
              <a:buFont typeface="Times New Roman"/>
              <a:buNone/>
            </a:pPr>
            <a:r>
              <a:rPr lang="en-US" sz="3400" b="1">
                <a:solidFill>
                  <a:srgbClr val="003366"/>
                </a:solidFill>
                <a:latin typeface="Times New Roman"/>
                <a:ea typeface="Times New Roman"/>
                <a:cs typeface="Times New Roman"/>
                <a:sym typeface="Times New Roman"/>
              </a:rPr>
              <a:t>Objectives Of The Project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82"/>
        <p:cNvGrpSpPr/>
        <p:nvPr/>
      </p:nvGrpSpPr>
      <p:grpSpPr>
        <a:xfrm>
          <a:off x="0" y="0"/>
          <a:ext cx="0" cy="0"/>
          <a:chOff x="0" y="0"/>
          <a:chExt cx="0" cy="0"/>
        </a:xfrm>
      </p:grpSpPr>
      <p:sp>
        <p:nvSpPr>
          <p:cNvPr id="84" name="Google Shape;84;p18"/>
          <p:cNvSpPr txBox="1">
            <a:spLocks noGrp="1"/>
          </p:cNvSpPr>
          <p:nvPr>
            <p:ph idx="1"/>
          </p:nvPr>
        </p:nvSpPr>
        <p:spPr>
          <a:prstGeom prst="rect">
            <a:avLst/>
          </a:prstGeom>
          <a:noFill/>
          <a:ln>
            <a:noFill/>
          </a:ln>
        </p:spPr>
        <p:txBody>
          <a:bodyPr spcFirstLastPara="1" wrap="square" lIns="91425" tIns="45700" rIns="91425" bIns="45700" anchor="t" anchorCtr="0">
            <a:normAutofit lnSpcReduction="10000"/>
          </a:bodyPr>
          <a:lstStyle/>
          <a:p>
            <a:pPr marL="342900" lvl="0" indent="0" algn="l" rtl="0">
              <a:lnSpc>
                <a:spcPct val="115000"/>
              </a:lnSpc>
              <a:spcBef>
                <a:spcPts val="0"/>
              </a:spcBef>
              <a:spcAft>
                <a:spcPts val="0"/>
              </a:spcAft>
              <a:buSzPts val="1800"/>
              <a:buNone/>
            </a:pPr>
            <a:r>
              <a:rPr lang="en-US" sz="2200" dirty="0">
                <a:solidFill>
                  <a:srgbClr val="282828"/>
                </a:solidFill>
                <a:latin typeface="Calibri"/>
                <a:ea typeface="Calibri"/>
                <a:cs typeface="Calibri"/>
                <a:sym typeface="Calibri"/>
              </a:rPr>
              <a:t>Barber shops often face challenges managing customer appointments, walk-ins, and staff schedules manually. Customers may experience inconvenience due to unclear availability or lack of timely updates about their appointments. These challenges reduce customer satisfaction and can negatively impact the business's reputation and revenue.</a:t>
            </a:r>
            <a:endParaRPr/>
          </a:p>
          <a:p>
            <a:pPr marL="342900" lvl="0" indent="-203200" algn="l" rtl="0">
              <a:lnSpc>
                <a:spcPct val="115000"/>
              </a:lnSpc>
              <a:spcBef>
                <a:spcPts val="440"/>
              </a:spcBef>
              <a:spcAft>
                <a:spcPts val="0"/>
              </a:spcAft>
              <a:buClr>
                <a:srgbClr val="282828"/>
              </a:buClr>
              <a:buSzPts val="2200"/>
              <a:buNone/>
            </a:pPr>
            <a:endParaRPr sz="2200">
              <a:solidFill>
                <a:srgbClr val="282828"/>
              </a:solidFill>
              <a:latin typeface="Calibri"/>
              <a:ea typeface="Calibri"/>
              <a:cs typeface="Calibri"/>
              <a:sym typeface="Calibri"/>
            </a:endParaRPr>
          </a:p>
          <a:p>
            <a:pPr marL="342900" lvl="0" indent="0" algn="l" rtl="0">
              <a:lnSpc>
                <a:spcPct val="115000"/>
              </a:lnSpc>
              <a:spcBef>
                <a:spcPts val="440"/>
              </a:spcBef>
              <a:spcAft>
                <a:spcPts val="1200"/>
              </a:spcAft>
              <a:buSzPts val="1800"/>
              <a:buNone/>
            </a:pPr>
            <a:r>
              <a:rPr lang="en-US" sz="2200" dirty="0">
                <a:solidFill>
                  <a:srgbClr val="282828"/>
                </a:solidFill>
                <a:latin typeface="Calibri"/>
                <a:ea typeface="Calibri"/>
                <a:cs typeface="Calibri"/>
                <a:sym typeface="Calibri"/>
              </a:rPr>
              <a:t>The proposed system addresses these issues by providing an automated, transparent, and reliable platform that improves scheduling accuracy, enhances communication, and increases overall operational efficiency.</a:t>
            </a:r>
            <a:endParaRPr/>
          </a:p>
        </p:txBody>
      </p:sp>
      <p:sp>
        <p:nvSpPr>
          <p:cNvPr id="83" name="Google Shape;83;p1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003366"/>
              </a:buClr>
              <a:buSzPts val="3400"/>
              <a:buFont typeface="Times New Roman"/>
              <a:buNone/>
            </a:pPr>
            <a:r>
              <a:rPr lang="en-US" sz="3400" b="1">
                <a:solidFill>
                  <a:srgbClr val="003366"/>
                </a:solidFill>
                <a:latin typeface="Times New Roman"/>
                <a:ea typeface="Times New Roman"/>
                <a:cs typeface="Times New Roman"/>
                <a:sym typeface="Times New Roman"/>
              </a:rPr>
              <a:t>Problem Definition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88"/>
        <p:cNvGrpSpPr/>
        <p:nvPr/>
      </p:nvGrpSpPr>
      <p:grpSpPr>
        <a:xfrm>
          <a:off x="0" y="0"/>
          <a:ext cx="0" cy="0"/>
          <a:chOff x="0" y="0"/>
          <a:chExt cx="0" cy="0"/>
        </a:xfrm>
      </p:grpSpPr>
      <p:sp>
        <p:nvSpPr>
          <p:cNvPr id="90" name="Google Shape;90;p19"/>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0" algn="l" rtl="0">
              <a:lnSpc>
                <a:spcPct val="115000"/>
              </a:lnSpc>
              <a:spcBef>
                <a:spcPts val="0"/>
              </a:spcBef>
              <a:spcAft>
                <a:spcPts val="1200"/>
              </a:spcAft>
              <a:buSzPts val="1800"/>
              <a:buNone/>
            </a:pPr>
            <a:r>
              <a:rPr lang="en-US" sz="2200" dirty="0">
                <a:solidFill>
                  <a:srgbClr val="282828"/>
                </a:solidFill>
                <a:latin typeface="Calibri"/>
                <a:ea typeface="Calibri"/>
                <a:cs typeface="Calibri"/>
                <a:sym typeface="Calibri"/>
              </a:rPr>
              <a:t>The Barber Scheduled Booking System offers a streamlined digital platform where users can easily book appointments based on barber availability. Users register, log in, choose a barber, select the required service, and book a time slot. Barbers can accept, reject, or mark appointments as completed. The system dynamically adjusts schedules considering holidays and breaks, delivering an efficient and modern booking experience.</a:t>
            </a:r>
            <a:endParaRPr/>
          </a:p>
        </p:txBody>
      </p:sp>
      <p:sp>
        <p:nvSpPr>
          <p:cNvPr id="89" name="Google Shape;89;p1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003366"/>
              </a:buClr>
              <a:buSzPts val="3400"/>
              <a:buFont typeface="Times New Roman"/>
              <a:buNone/>
            </a:pPr>
            <a:r>
              <a:rPr lang="en-US" sz="3400" b="1">
                <a:solidFill>
                  <a:srgbClr val="003366"/>
                </a:solidFill>
                <a:latin typeface="Times New Roman"/>
                <a:ea typeface="Times New Roman"/>
                <a:cs typeface="Times New Roman"/>
                <a:sym typeface="Times New Roman"/>
              </a:rPr>
              <a:t>Abstract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94"/>
        <p:cNvGrpSpPr/>
        <p:nvPr/>
      </p:nvGrpSpPr>
      <p:grpSpPr>
        <a:xfrm>
          <a:off x="0" y="0"/>
          <a:ext cx="0" cy="0"/>
          <a:chOff x="0" y="0"/>
          <a:chExt cx="0" cy="0"/>
        </a:xfrm>
      </p:grpSpPr>
      <p:sp>
        <p:nvSpPr>
          <p:cNvPr id="96" name="Google Shape;96;p20"/>
          <p:cNvSpPr txBox="1">
            <a:spLocks noGrp="1"/>
          </p:cNvSpPr>
          <p:nvPr>
            <p:ph idx="1"/>
          </p:nvPr>
        </p:nvSpPr>
        <p:spPr>
          <a:prstGeom prst="rect">
            <a:avLst/>
          </a:prstGeom>
          <a:noFill/>
          <a:ln>
            <a:noFill/>
          </a:ln>
        </p:spPr>
        <p:txBody>
          <a:bodyPr spcFirstLastPara="1" wrap="square" lIns="91425" tIns="45700" rIns="91425" bIns="45700" anchor="t" anchorCtr="0">
            <a:normAutofit fontScale="77500" lnSpcReduction="20000"/>
          </a:bodyPr>
          <a:lstStyle/>
          <a:p>
            <a:pPr marL="342900" lvl="0" indent="-321945" algn="l" rtl="0">
              <a:lnSpc>
                <a:spcPct val="115000"/>
              </a:lnSpc>
              <a:spcBef>
                <a:spcPts val="0"/>
              </a:spcBef>
              <a:spcAft>
                <a:spcPts val="0"/>
              </a:spcAft>
              <a:buClr>
                <a:srgbClr val="282828"/>
              </a:buClr>
              <a:buSzPct val="100000"/>
              <a:buChar char="●"/>
            </a:pPr>
            <a:r>
              <a:rPr lang="en-US" sz="2200" b="1" dirty="0">
                <a:solidFill>
                  <a:srgbClr val="282828"/>
                </a:solidFill>
              </a:rPr>
              <a:t>Hardware Requirements:</a:t>
            </a:r>
            <a:endParaRPr sz="2200" b="1">
              <a:solidFill>
                <a:srgbClr val="282828"/>
              </a:solidFill>
            </a:endParaRPr>
          </a:p>
          <a:p>
            <a:pPr marL="342900" lvl="0" indent="0" algn="l" rtl="0">
              <a:lnSpc>
                <a:spcPct val="115000"/>
              </a:lnSpc>
              <a:spcBef>
                <a:spcPts val="0"/>
              </a:spcBef>
              <a:spcAft>
                <a:spcPts val="0"/>
              </a:spcAft>
              <a:buSzPct val="96256"/>
              <a:buNone/>
            </a:pPr>
            <a:endParaRPr sz="2200" b="1">
              <a:solidFill>
                <a:srgbClr val="282828"/>
              </a:solidFill>
            </a:endParaRPr>
          </a:p>
          <a:p>
            <a:pPr marL="342900" lvl="0" indent="0" algn="l" rtl="0">
              <a:lnSpc>
                <a:spcPct val="115000"/>
              </a:lnSpc>
              <a:spcBef>
                <a:spcPts val="440"/>
              </a:spcBef>
              <a:spcAft>
                <a:spcPts val="0"/>
              </a:spcAft>
              <a:buSzPct val="96256"/>
              <a:buNone/>
            </a:pPr>
            <a:r>
              <a:rPr lang="en-US" sz="2200" dirty="0">
                <a:solidFill>
                  <a:srgbClr val="282828"/>
                </a:solidFill>
                <a:latin typeface="Calibri"/>
                <a:ea typeface="Calibri"/>
                <a:cs typeface="Calibri"/>
                <a:sym typeface="Calibri"/>
              </a:rPr>
              <a:t>• Computer or Laptop (8GB RAM minimum)</a:t>
            </a:r>
            <a:endParaRPr/>
          </a:p>
          <a:p>
            <a:pPr marL="342900" lvl="0" indent="0" algn="l" rtl="0">
              <a:lnSpc>
                <a:spcPct val="115000"/>
              </a:lnSpc>
              <a:spcBef>
                <a:spcPts val="440"/>
              </a:spcBef>
              <a:spcAft>
                <a:spcPts val="0"/>
              </a:spcAft>
              <a:buSzPct val="96256"/>
              <a:buNone/>
            </a:pPr>
            <a:r>
              <a:rPr lang="en-US" sz="2200" dirty="0">
                <a:solidFill>
                  <a:srgbClr val="282828"/>
                </a:solidFill>
                <a:latin typeface="Calibri"/>
                <a:ea typeface="Calibri"/>
                <a:cs typeface="Calibri"/>
                <a:sym typeface="Calibri"/>
              </a:rPr>
              <a:t>• Internet Connectivity</a:t>
            </a:r>
            <a:endParaRPr/>
          </a:p>
          <a:p>
            <a:pPr marL="342900" lvl="0" indent="-203200" algn="l" rtl="0">
              <a:lnSpc>
                <a:spcPct val="115000"/>
              </a:lnSpc>
              <a:spcBef>
                <a:spcPts val="440"/>
              </a:spcBef>
              <a:spcAft>
                <a:spcPts val="0"/>
              </a:spcAft>
              <a:buClr>
                <a:srgbClr val="282828"/>
              </a:buClr>
              <a:buSzPct val="100000"/>
              <a:buNone/>
            </a:pPr>
            <a:endParaRPr sz="2200">
              <a:solidFill>
                <a:srgbClr val="282828"/>
              </a:solidFill>
              <a:latin typeface="Calibri"/>
              <a:ea typeface="Calibri"/>
              <a:cs typeface="Calibri"/>
              <a:sym typeface="Calibri"/>
            </a:endParaRPr>
          </a:p>
          <a:p>
            <a:pPr marL="342900" lvl="0" indent="-321945" algn="l" rtl="0">
              <a:lnSpc>
                <a:spcPct val="115000"/>
              </a:lnSpc>
              <a:spcBef>
                <a:spcPts val="440"/>
              </a:spcBef>
              <a:spcAft>
                <a:spcPts val="0"/>
              </a:spcAft>
              <a:buClr>
                <a:srgbClr val="282828"/>
              </a:buClr>
              <a:buSzPct val="100000"/>
              <a:buChar char="●"/>
            </a:pPr>
            <a:r>
              <a:rPr lang="en-US" sz="2200" b="1" dirty="0">
                <a:solidFill>
                  <a:srgbClr val="282828"/>
                </a:solidFill>
              </a:rPr>
              <a:t>Software Requirements:</a:t>
            </a:r>
            <a:endParaRPr sz="2200" b="1">
              <a:solidFill>
                <a:srgbClr val="282828"/>
              </a:solidFill>
            </a:endParaRPr>
          </a:p>
          <a:p>
            <a:pPr marL="342900" lvl="0" indent="0" algn="l" rtl="0">
              <a:lnSpc>
                <a:spcPct val="115000"/>
              </a:lnSpc>
              <a:spcBef>
                <a:spcPts val="440"/>
              </a:spcBef>
              <a:spcAft>
                <a:spcPts val="0"/>
              </a:spcAft>
              <a:buSzPct val="96256"/>
              <a:buNone/>
            </a:pPr>
            <a:endParaRPr sz="2200" b="1">
              <a:solidFill>
                <a:srgbClr val="282828"/>
              </a:solidFill>
            </a:endParaRPr>
          </a:p>
          <a:p>
            <a:pPr marL="342900" lvl="0" indent="0" algn="l" rtl="0">
              <a:lnSpc>
                <a:spcPct val="115000"/>
              </a:lnSpc>
              <a:spcBef>
                <a:spcPts val="440"/>
              </a:spcBef>
              <a:spcAft>
                <a:spcPts val="0"/>
              </a:spcAft>
              <a:buSzPct val="96256"/>
              <a:buNone/>
            </a:pPr>
            <a:r>
              <a:rPr lang="en-US" sz="2200" dirty="0">
                <a:solidFill>
                  <a:srgbClr val="282828"/>
                </a:solidFill>
                <a:latin typeface="Calibri"/>
                <a:ea typeface="Calibri"/>
                <a:cs typeface="Calibri"/>
                <a:sym typeface="Calibri"/>
              </a:rPr>
              <a:t>• </a:t>
            </a:r>
            <a:r>
              <a:rPr lang="en-US" sz="2200" dirty="0" err="1">
                <a:solidFill>
                  <a:srgbClr val="282828"/>
                </a:solidFill>
                <a:latin typeface="Calibri"/>
                <a:ea typeface="Calibri"/>
                <a:cs typeface="Calibri"/>
                <a:sym typeface="Calibri"/>
              </a:rPr>
              <a:t>MongoDB</a:t>
            </a:r>
            <a:r>
              <a:rPr lang="en-US" sz="2200" dirty="0">
                <a:solidFill>
                  <a:srgbClr val="282828"/>
                </a:solidFill>
                <a:latin typeface="Calibri"/>
                <a:ea typeface="Calibri"/>
                <a:cs typeface="Calibri"/>
                <a:sym typeface="Calibri"/>
              </a:rPr>
              <a:t> – Database</a:t>
            </a:r>
            <a:endParaRPr/>
          </a:p>
          <a:p>
            <a:pPr marL="342900" lvl="0" indent="0" algn="l" rtl="0">
              <a:lnSpc>
                <a:spcPct val="115000"/>
              </a:lnSpc>
              <a:spcBef>
                <a:spcPts val="440"/>
              </a:spcBef>
              <a:spcAft>
                <a:spcPts val="0"/>
              </a:spcAft>
              <a:buSzPct val="96256"/>
              <a:buNone/>
            </a:pPr>
            <a:r>
              <a:rPr lang="en-US" sz="2200" dirty="0">
                <a:solidFill>
                  <a:srgbClr val="282828"/>
                </a:solidFill>
                <a:latin typeface="Calibri"/>
                <a:ea typeface="Calibri"/>
                <a:cs typeface="Calibri"/>
                <a:sym typeface="Calibri"/>
              </a:rPr>
              <a:t>• Express.js – Backend Framework</a:t>
            </a:r>
            <a:endParaRPr/>
          </a:p>
          <a:p>
            <a:pPr marL="342900" lvl="0" indent="0" algn="l" rtl="0">
              <a:lnSpc>
                <a:spcPct val="115000"/>
              </a:lnSpc>
              <a:spcBef>
                <a:spcPts val="440"/>
              </a:spcBef>
              <a:spcAft>
                <a:spcPts val="0"/>
              </a:spcAft>
              <a:buSzPct val="96256"/>
              <a:buNone/>
            </a:pPr>
            <a:r>
              <a:rPr lang="en-US" sz="2200" dirty="0">
                <a:solidFill>
                  <a:srgbClr val="282828"/>
                </a:solidFill>
                <a:latin typeface="Calibri"/>
                <a:ea typeface="Calibri"/>
                <a:cs typeface="Calibri"/>
                <a:sym typeface="Calibri"/>
              </a:rPr>
              <a:t>• React.js – Frontend Library</a:t>
            </a:r>
            <a:endParaRPr/>
          </a:p>
          <a:p>
            <a:pPr marL="342900" lvl="0" indent="0" algn="l" rtl="0">
              <a:lnSpc>
                <a:spcPct val="115000"/>
              </a:lnSpc>
              <a:spcBef>
                <a:spcPts val="440"/>
              </a:spcBef>
              <a:spcAft>
                <a:spcPts val="0"/>
              </a:spcAft>
              <a:buSzPct val="96256"/>
              <a:buNone/>
            </a:pPr>
            <a:r>
              <a:rPr lang="en-US" sz="2200" dirty="0">
                <a:solidFill>
                  <a:srgbClr val="282828"/>
                </a:solidFill>
                <a:latin typeface="Calibri"/>
                <a:ea typeface="Calibri"/>
                <a:cs typeface="Calibri"/>
                <a:sym typeface="Calibri"/>
              </a:rPr>
              <a:t>• Node.js – Runtime Environment</a:t>
            </a:r>
            <a:endParaRPr/>
          </a:p>
          <a:p>
            <a:pPr marL="342900" lvl="0" indent="0" algn="l" rtl="0">
              <a:lnSpc>
                <a:spcPct val="115000"/>
              </a:lnSpc>
              <a:spcBef>
                <a:spcPts val="440"/>
              </a:spcBef>
              <a:spcAft>
                <a:spcPts val="0"/>
              </a:spcAft>
              <a:buSzPct val="96256"/>
              <a:buNone/>
            </a:pPr>
            <a:r>
              <a:rPr lang="en-US" sz="2200" dirty="0">
                <a:solidFill>
                  <a:srgbClr val="282828"/>
                </a:solidFill>
                <a:latin typeface="Calibri"/>
                <a:ea typeface="Calibri"/>
                <a:cs typeface="Calibri"/>
                <a:sym typeface="Calibri"/>
              </a:rPr>
              <a:t>• Visual Studio Code – Development IDE</a:t>
            </a:r>
            <a:endParaRPr/>
          </a:p>
          <a:p>
            <a:pPr marL="342900" lvl="0" indent="0" algn="l" rtl="0">
              <a:lnSpc>
                <a:spcPct val="115000"/>
              </a:lnSpc>
              <a:spcBef>
                <a:spcPts val="440"/>
              </a:spcBef>
              <a:spcAft>
                <a:spcPts val="0"/>
              </a:spcAft>
              <a:buSzPct val="96256"/>
              <a:buNone/>
            </a:pPr>
            <a:r>
              <a:rPr lang="en-US" sz="2200" dirty="0">
                <a:solidFill>
                  <a:srgbClr val="282828"/>
                </a:solidFill>
                <a:latin typeface="Calibri"/>
                <a:ea typeface="Calibri"/>
                <a:cs typeface="Calibri"/>
                <a:sym typeface="Calibri"/>
              </a:rPr>
              <a:t>• Chrome / Edge Browser</a:t>
            </a:r>
            <a:endParaRPr/>
          </a:p>
          <a:p>
            <a:pPr marL="342900" lvl="0" indent="0" algn="l" rtl="0">
              <a:lnSpc>
                <a:spcPct val="115000"/>
              </a:lnSpc>
              <a:spcBef>
                <a:spcPts val="440"/>
              </a:spcBef>
              <a:spcAft>
                <a:spcPts val="1200"/>
              </a:spcAft>
              <a:buSzPct val="96256"/>
              <a:buNone/>
            </a:pPr>
            <a:r>
              <a:rPr lang="en-US" sz="2200" dirty="0">
                <a:solidFill>
                  <a:srgbClr val="282828"/>
                </a:solidFill>
                <a:latin typeface="Calibri"/>
                <a:ea typeface="Calibri"/>
                <a:cs typeface="Calibri"/>
                <a:sym typeface="Calibri"/>
              </a:rPr>
              <a:t>• </a:t>
            </a:r>
            <a:r>
              <a:rPr lang="en-US" sz="2200" dirty="0" err="1">
                <a:solidFill>
                  <a:srgbClr val="282828"/>
                </a:solidFill>
                <a:latin typeface="Calibri"/>
                <a:ea typeface="Calibri"/>
                <a:cs typeface="Calibri"/>
                <a:sym typeface="Calibri"/>
              </a:rPr>
              <a:t>Git</a:t>
            </a:r>
            <a:r>
              <a:rPr lang="en-US" sz="2200" dirty="0">
                <a:solidFill>
                  <a:srgbClr val="282828"/>
                </a:solidFill>
                <a:latin typeface="Calibri"/>
                <a:ea typeface="Calibri"/>
                <a:cs typeface="Calibri"/>
                <a:sym typeface="Calibri"/>
              </a:rPr>
              <a:t> &amp; </a:t>
            </a:r>
            <a:r>
              <a:rPr lang="en-US" sz="2200" dirty="0" err="1">
                <a:solidFill>
                  <a:srgbClr val="282828"/>
                </a:solidFill>
                <a:latin typeface="Calibri"/>
                <a:ea typeface="Calibri"/>
                <a:cs typeface="Calibri"/>
                <a:sym typeface="Calibri"/>
              </a:rPr>
              <a:t>GitHub</a:t>
            </a:r>
            <a:r>
              <a:rPr lang="en-US" sz="2200" dirty="0">
                <a:solidFill>
                  <a:srgbClr val="282828"/>
                </a:solidFill>
                <a:latin typeface="Calibri"/>
                <a:ea typeface="Calibri"/>
                <a:cs typeface="Calibri"/>
                <a:sym typeface="Calibri"/>
              </a:rPr>
              <a:t> – Version Control</a:t>
            </a:r>
            <a:endParaRPr/>
          </a:p>
        </p:txBody>
      </p:sp>
      <p:sp>
        <p:nvSpPr>
          <p:cNvPr id="95" name="Google Shape;95;p2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003366"/>
              </a:buClr>
              <a:buSzPts val="3400"/>
              <a:buFont typeface="Times New Roman"/>
              <a:buNone/>
            </a:pPr>
            <a:r>
              <a:rPr lang="en-US" sz="3400" b="1">
                <a:solidFill>
                  <a:srgbClr val="003366"/>
                </a:solidFill>
                <a:latin typeface="Times New Roman"/>
                <a:ea typeface="Times New Roman"/>
                <a:cs typeface="Times New Roman"/>
                <a:sym typeface="Times New Roman"/>
              </a:rPr>
              <a:t>Hardware &amp; Software Requirements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100"/>
        <p:cNvGrpSpPr/>
        <p:nvPr/>
      </p:nvGrpSpPr>
      <p:grpSpPr>
        <a:xfrm>
          <a:off x="0" y="0"/>
          <a:ext cx="0" cy="0"/>
          <a:chOff x="0" y="0"/>
          <a:chExt cx="0" cy="0"/>
        </a:xfrm>
      </p:grpSpPr>
      <p:sp>
        <p:nvSpPr>
          <p:cNvPr id="102" name="Google Shape;102;p21"/>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0" algn="l" rtl="0">
              <a:lnSpc>
                <a:spcPct val="115000"/>
              </a:lnSpc>
              <a:spcBef>
                <a:spcPts val="0"/>
              </a:spcBef>
              <a:spcAft>
                <a:spcPts val="0"/>
              </a:spcAft>
              <a:buSzPts val="1800"/>
              <a:buNone/>
            </a:pPr>
            <a:r>
              <a:rPr lang="en-US" sz="2200" dirty="0">
                <a:solidFill>
                  <a:srgbClr val="282828"/>
                </a:solidFill>
                <a:latin typeface="Calibri"/>
                <a:ea typeface="Calibri"/>
                <a:cs typeface="Calibri"/>
                <a:sym typeface="Calibri"/>
              </a:rPr>
              <a:t>The project primarily targets small and medium-sized barbershops seeking an efficient digital solution for appointment management. It can be extended in the future with additional features like online payments, customer feedback, and advanced analytics.</a:t>
            </a:r>
            <a:endParaRPr/>
          </a:p>
          <a:p>
            <a:pPr marL="342900" lvl="0" indent="-203200" algn="l" rtl="0">
              <a:lnSpc>
                <a:spcPct val="115000"/>
              </a:lnSpc>
              <a:spcBef>
                <a:spcPts val="440"/>
              </a:spcBef>
              <a:spcAft>
                <a:spcPts val="0"/>
              </a:spcAft>
              <a:buClr>
                <a:srgbClr val="282828"/>
              </a:buClr>
              <a:buSzPts val="2200"/>
              <a:buNone/>
            </a:pPr>
            <a:endParaRPr sz="2200">
              <a:solidFill>
                <a:srgbClr val="282828"/>
              </a:solidFill>
              <a:latin typeface="Calibri"/>
              <a:ea typeface="Calibri"/>
              <a:cs typeface="Calibri"/>
              <a:sym typeface="Calibri"/>
            </a:endParaRPr>
          </a:p>
          <a:p>
            <a:pPr marL="342900" lvl="0" indent="0" algn="l" rtl="0">
              <a:lnSpc>
                <a:spcPct val="115000"/>
              </a:lnSpc>
              <a:spcBef>
                <a:spcPts val="440"/>
              </a:spcBef>
              <a:spcAft>
                <a:spcPts val="0"/>
              </a:spcAft>
              <a:buSzPts val="1800"/>
              <a:buNone/>
            </a:pPr>
            <a:r>
              <a:rPr lang="en-US" sz="2200" b="1" dirty="0">
                <a:solidFill>
                  <a:srgbClr val="282828"/>
                </a:solidFill>
              </a:rPr>
              <a:t>Additional Features:</a:t>
            </a:r>
            <a:endParaRPr sz="2200" b="1">
              <a:solidFill>
                <a:srgbClr val="282828"/>
              </a:solidFill>
            </a:endParaRPr>
          </a:p>
          <a:p>
            <a:pPr marL="342900" lvl="0" indent="0" algn="l" rtl="0">
              <a:lnSpc>
                <a:spcPct val="115000"/>
              </a:lnSpc>
              <a:spcBef>
                <a:spcPts val="440"/>
              </a:spcBef>
              <a:spcAft>
                <a:spcPts val="0"/>
              </a:spcAft>
              <a:buSzPts val="1800"/>
              <a:buNone/>
            </a:pPr>
            <a:r>
              <a:rPr lang="en-US" sz="2200" dirty="0">
                <a:solidFill>
                  <a:srgbClr val="282828"/>
                </a:solidFill>
                <a:latin typeface="Calibri"/>
                <a:ea typeface="Calibri"/>
                <a:cs typeface="Calibri"/>
                <a:sym typeface="Calibri"/>
              </a:rPr>
              <a:t>• Email/SMS or in-app notifications and reminders.</a:t>
            </a:r>
            <a:endParaRPr/>
          </a:p>
          <a:p>
            <a:pPr marL="342900" lvl="0" indent="0" algn="l" rtl="0">
              <a:lnSpc>
                <a:spcPct val="115000"/>
              </a:lnSpc>
              <a:spcBef>
                <a:spcPts val="440"/>
              </a:spcBef>
              <a:spcAft>
                <a:spcPts val="0"/>
              </a:spcAft>
              <a:buSzPts val="1800"/>
              <a:buNone/>
            </a:pPr>
            <a:r>
              <a:rPr lang="en-US" sz="2200" dirty="0">
                <a:solidFill>
                  <a:srgbClr val="282828"/>
                </a:solidFill>
                <a:latin typeface="Calibri"/>
                <a:ea typeface="Calibri"/>
                <a:cs typeface="Calibri"/>
                <a:sym typeface="Calibri"/>
              </a:rPr>
              <a:t>• Barber dashboard with daily, weekly, and monthly views.</a:t>
            </a:r>
            <a:endParaRPr/>
          </a:p>
          <a:p>
            <a:pPr marL="342900" lvl="0" indent="0" algn="l" rtl="0">
              <a:lnSpc>
                <a:spcPct val="115000"/>
              </a:lnSpc>
              <a:spcBef>
                <a:spcPts val="440"/>
              </a:spcBef>
              <a:spcAft>
                <a:spcPts val="0"/>
              </a:spcAft>
              <a:buSzPts val="1800"/>
              <a:buNone/>
            </a:pPr>
            <a:r>
              <a:rPr lang="en-US" sz="2200" dirty="0">
                <a:solidFill>
                  <a:srgbClr val="282828"/>
                </a:solidFill>
                <a:latin typeface="Calibri"/>
                <a:ea typeface="Calibri"/>
                <a:cs typeface="Calibri"/>
                <a:sym typeface="Calibri"/>
              </a:rPr>
              <a:t>• Multi-location support (chain of barbershops).</a:t>
            </a:r>
            <a:endParaRPr/>
          </a:p>
          <a:p>
            <a:pPr marL="342900" lvl="0" indent="0" algn="l" rtl="0">
              <a:lnSpc>
                <a:spcPct val="115000"/>
              </a:lnSpc>
              <a:spcBef>
                <a:spcPts val="440"/>
              </a:spcBef>
              <a:spcAft>
                <a:spcPts val="1200"/>
              </a:spcAft>
              <a:buSzPts val="1800"/>
              <a:buNone/>
            </a:pPr>
            <a:r>
              <a:rPr lang="en-US" sz="2200" dirty="0">
                <a:solidFill>
                  <a:srgbClr val="282828"/>
                </a:solidFill>
                <a:latin typeface="Calibri"/>
                <a:ea typeface="Calibri"/>
                <a:cs typeface="Calibri"/>
                <a:sym typeface="Calibri"/>
              </a:rPr>
              <a:t>• Customer history and preferences tracking.</a:t>
            </a:r>
            <a:endParaRPr/>
          </a:p>
        </p:txBody>
      </p:sp>
      <p:sp>
        <p:nvSpPr>
          <p:cNvPr id="101" name="Google Shape;101;p2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003366"/>
              </a:buClr>
              <a:buSzPts val="3400"/>
              <a:buFont typeface="Times New Roman"/>
              <a:buNone/>
            </a:pPr>
            <a:r>
              <a:rPr lang="en-US" sz="3400" b="1">
                <a:solidFill>
                  <a:srgbClr val="003366"/>
                </a:solidFill>
                <a:latin typeface="Times New Roman"/>
                <a:ea typeface="Times New Roman"/>
                <a:cs typeface="Times New Roman"/>
                <a:sym typeface="Times New Roman"/>
              </a:rPr>
              <a:t>Scope Of The Project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106"/>
        <p:cNvGrpSpPr/>
        <p:nvPr/>
      </p:nvGrpSpPr>
      <p:grpSpPr>
        <a:xfrm>
          <a:off x="0" y="0"/>
          <a:ext cx="0" cy="0"/>
          <a:chOff x="0" y="0"/>
          <a:chExt cx="0" cy="0"/>
        </a:xfrm>
      </p:grpSpPr>
      <p:sp>
        <p:nvSpPr>
          <p:cNvPr id="108" name="Google Shape;108;p22"/>
          <p:cNvSpPr txBox="1">
            <a:spLocks noGrp="1"/>
          </p:cNvSpPr>
          <p:nvPr>
            <p:ph idx="1"/>
          </p:nvPr>
        </p:nvSpPr>
        <p:spPr>
          <a:prstGeom prst="rect">
            <a:avLst/>
          </a:prstGeom>
          <a:noFill/>
          <a:ln>
            <a:noFill/>
          </a:ln>
        </p:spPr>
        <p:txBody>
          <a:bodyPr spcFirstLastPara="1" wrap="square" lIns="91425" tIns="45700" rIns="91425" bIns="45700" anchor="t" anchorCtr="0">
            <a:normAutofit fontScale="77500" lnSpcReduction="20000"/>
          </a:bodyPr>
          <a:lstStyle/>
          <a:p>
            <a:pPr marL="342900" lvl="0" indent="-311467" algn="l" rtl="0">
              <a:lnSpc>
                <a:spcPct val="115000"/>
              </a:lnSpc>
              <a:spcBef>
                <a:spcPts val="0"/>
              </a:spcBef>
              <a:spcAft>
                <a:spcPts val="0"/>
              </a:spcAft>
              <a:buClr>
                <a:srgbClr val="282828"/>
              </a:buClr>
              <a:buSzPct val="100000"/>
              <a:buChar char="●"/>
            </a:pPr>
            <a:r>
              <a:rPr lang="en-US" sz="2200" b="1" dirty="0">
                <a:solidFill>
                  <a:srgbClr val="282828"/>
                </a:solidFill>
              </a:rPr>
              <a:t>Existing System:</a:t>
            </a:r>
            <a:endParaRPr sz="2200" b="1">
              <a:solidFill>
                <a:srgbClr val="282828"/>
              </a:solidFill>
            </a:endParaRPr>
          </a:p>
          <a:p>
            <a:pPr marL="342900" lvl="0" indent="0" algn="l" rtl="0">
              <a:lnSpc>
                <a:spcPct val="115000"/>
              </a:lnSpc>
              <a:spcBef>
                <a:spcPts val="0"/>
              </a:spcBef>
              <a:spcAft>
                <a:spcPts val="0"/>
              </a:spcAft>
              <a:buSzPct val="105571"/>
              <a:buNone/>
            </a:pPr>
            <a:endParaRPr sz="2200" b="1">
              <a:solidFill>
                <a:srgbClr val="282828"/>
              </a:solidFill>
            </a:endParaRPr>
          </a:p>
          <a:p>
            <a:pPr marL="342900" lvl="0" indent="0" algn="l" rtl="0">
              <a:lnSpc>
                <a:spcPct val="115000"/>
              </a:lnSpc>
              <a:spcBef>
                <a:spcPts val="440"/>
              </a:spcBef>
              <a:spcAft>
                <a:spcPts val="0"/>
              </a:spcAft>
              <a:buSzPct val="105571"/>
              <a:buNone/>
            </a:pPr>
            <a:r>
              <a:rPr lang="en-US" sz="2200" dirty="0">
                <a:solidFill>
                  <a:srgbClr val="282828"/>
                </a:solidFill>
                <a:latin typeface="Calibri"/>
                <a:ea typeface="Calibri"/>
                <a:cs typeface="Calibri"/>
                <a:sym typeface="Calibri"/>
              </a:rPr>
              <a:t>Manual appointment recording through calls or walk-ins often leads to confusion and inefficiency.</a:t>
            </a:r>
            <a:endParaRPr/>
          </a:p>
          <a:p>
            <a:pPr marL="342900" lvl="0" indent="-203200" algn="l" rtl="0">
              <a:lnSpc>
                <a:spcPct val="115000"/>
              </a:lnSpc>
              <a:spcBef>
                <a:spcPts val="440"/>
              </a:spcBef>
              <a:spcAft>
                <a:spcPts val="0"/>
              </a:spcAft>
              <a:buClr>
                <a:srgbClr val="282828"/>
              </a:buClr>
              <a:buSzPct val="100000"/>
              <a:buNone/>
            </a:pPr>
            <a:endParaRPr sz="2200">
              <a:solidFill>
                <a:srgbClr val="282828"/>
              </a:solidFill>
              <a:latin typeface="Calibri"/>
              <a:ea typeface="Calibri"/>
              <a:cs typeface="Calibri"/>
              <a:sym typeface="Calibri"/>
            </a:endParaRPr>
          </a:p>
          <a:p>
            <a:pPr marL="342900" lvl="0" indent="-311467" algn="l" rtl="0">
              <a:lnSpc>
                <a:spcPct val="115000"/>
              </a:lnSpc>
              <a:spcBef>
                <a:spcPts val="440"/>
              </a:spcBef>
              <a:spcAft>
                <a:spcPts val="0"/>
              </a:spcAft>
              <a:buClr>
                <a:srgbClr val="282828"/>
              </a:buClr>
              <a:buSzPct val="100000"/>
              <a:buChar char="●"/>
            </a:pPr>
            <a:r>
              <a:rPr lang="en-US" sz="2200" b="1" dirty="0">
                <a:solidFill>
                  <a:srgbClr val="282828"/>
                </a:solidFill>
              </a:rPr>
              <a:t>Limitations:</a:t>
            </a:r>
            <a:endParaRPr sz="2200" b="1">
              <a:solidFill>
                <a:srgbClr val="282828"/>
              </a:solidFill>
            </a:endParaRPr>
          </a:p>
          <a:p>
            <a:pPr marL="342900" lvl="0" indent="0" algn="l" rtl="0">
              <a:lnSpc>
                <a:spcPct val="115000"/>
              </a:lnSpc>
              <a:spcBef>
                <a:spcPts val="440"/>
              </a:spcBef>
              <a:spcAft>
                <a:spcPts val="0"/>
              </a:spcAft>
              <a:buSzPct val="105571"/>
              <a:buNone/>
            </a:pPr>
            <a:endParaRPr sz="2200" b="1">
              <a:solidFill>
                <a:srgbClr val="282828"/>
              </a:solidFill>
            </a:endParaRPr>
          </a:p>
          <a:p>
            <a:pPr marL="342900" lvl="0" indent="0" algn="l" rtl="0">
              <a:lnSpc>
                <a:spcPct val="115000"/>
              </a:lnSpc>
              <a:spcBef>
                <a:spcPts val="440"/>
              </a:spcBef>
              <a:spcAft>
                <a:spcPts val="0"/>
              </a:spcAft>
              <a:buSzPct val="105571"/>
              <a:buNone/>
            </a:pPr>
            <a:r>
              <a:rPr lang="en-US" sz="2200" dirty="0">
                <a:solidFill>
                  <a:srgbClr val="282828"/>
                </a:solidFill>
                <a:latin typeface="Calibri"/>
                <a:ea typeface="Calibri"/>
                <a:cs typeface="Calibri"/>
                <a:sym typeface="Calibri"/>
              </a:rPr>
              <a:t>• No centralized system to track bookings.</a:t>
            </a:r>
            <a:endParaRPr/>
          </a:p>
          <a:p>
            <a:pPr marL="342900" lvl="0" indent="0" algn="l" rtl="0">
              <a:lnSpc>
                <a:spcPct val="115000"/>
              </a:lnSpc>
              <a:spcBef>
                <a:spcPts val="440"/>
              </a:spcBef>
              <a:spcAft>
                <a:spcPts val="0"/>
              </a:spcAft>
              <a:buSzPct val="105571"/>
              <a:buNone/>
            </a:pPr>
            <a:r>
              <a:rPr lang="en-US" sz="2200" dirty="0">
                <a:solidFill>
                  <a:srgbClr val="282828"/>
                </a:solidFill>
                <a:latin typeface="Calibri"/>
                <a:ea typeface="Calibri"/>
                <a:cs typeface="Calibri"/>
                <a:sym typeface="Calibri"/>
              </a:rPr>
              <a:t>• Lack of synchronization between customers and barbers.</a:t>
            </a:r>
            <a:endParaRPr/>
          </a:p>
          <a:p>
            <a:pPr marL="342900" lvl="0" indent="0" algn="l" rtl="0">
              <a:lnSpc>
                <a:spcPct val="115000"/>
              </a:lnSpc>
              <a:spcBef>
                <a:spcPts val="440"/>
              </a:spcBef>
              <a:spcAft>
                <a:spcPts val="0"/>
              </a:spcAft>
              <a:buSzPct val="105571"/>
              <a:buNone/>
            </a:pPr>
            <a:r>
              <a:rPr lang="en-US" sz="2200" dirty="0">
                <a:solidFill>
                  <a:srgbClr val="282828"/>
                </a:solidFill>
                <a:latin typeface="Calibri"/>
                <a:ea typeface="Calibri"/>
                <a:cs typeface="Calibri"/>
                <a:sym typeface="Calibri"/>
              </a:rPr>
              <a:t>• Time wastage and human error.</a:t>
            </a:r>
            <a:endParaRPr/>
          </a:p>
          <a:p>
            <a:pPr marL="342900" lvl="0" indent="-203200" algn="l" rtl="0">
              <a:lnSpc>
                <a:spcPct val="115000"/>
              </a:lnSpc>
              <a:spcBef>
                <a:spcPts val="440"/>
              </a:spcBef>
              <a:spcAft>
                <a:spcPts val="0"/>
              </a:spcAft>
              <a:buClr>
                <a:srgbClr val="282828"/>
              </a:buClr>
              <a:buSzPct val="100000"/>
              <a:buNone/>
            </a:pPr>
            <a:endParaRPr sz="2200">
              <a:solidFill>
                <a:srgbClr val="282828"/>
              </a:solidFill>
              <a:latin typeface="Calibri"/>
              <a:ea typeface="Calibri"/>
              <a:cs typeface="Calibri"/>
              <a:sym typeface="Calibri"/>
            </a:endParaRPr>
          </a:p>
          <a:p>
            <a:pPr marL="342900" lvl="0" indent="-311467" algn="l" rtl="0">
              <a:lnSpc>
                <a:spcPct val="115000"/>
              </a:lnSpc>
              <a:spcBef>
                <a:spcPts val="440"/>
              </a:spcBef>
              <a:spcAft>
                <a:spcPts val="0"/>
              </a:spcAft>
              <a:buClr>
                <a:srgbClr val="282828"/>
              </a:buClr>
              <a:buSzPct val="100000"/>
              <a:buChar char="●"/>
            </a:pPr>
            <a:r>
              <a:rPr lang="en-US" sz="2200" b="1" dirty="0">
                <a:solidFill>
                  <a:srgbClr val="282828"/>
                </a:solidFill>
              </a:rPr>
              <a:t>Proposed System:</a:t>
            </a:r>
            <a:endParaRPr sz="2200" b="1">
              <a:solidFill>
                <a:srgbClr val="282828"/>
              </a:solidFill>
            </a:endParaRPr>
          </a:p>
          <a:p>
            <a:pPr marL="342900" lvl="0" indent="0" algn="l" rtl="0">
              <a:lnSpc>
                <a:spcPct val="115000"/>
              </a:lnSpc>
              <a:spcBef>
                <a:spcPts val="440"/>
              </a:spcBef>
              <a:spcAft>
                <a:spcPts val="0"/>
              </a:spcAft>
              <a:buSzPct val="105571"/>
              <a:buNone/>
            </a:pPr>
            <a:endParaRPr sz="2200" b="1">
              <a:solidFill>
                <a:srgbClr val="282828"/>
              </a:solidFill>
            </a:endParaRPr>
          </a:p>
          <a:p>
            <a:pPr marL="342900" lvl="0" indent="0" algn="l" rtl="0">
              <a:lnSpc>
                <a:spcPct val="115000"/>
              </a:lnSpc>
              <a:spcBef>
                <a:spcPts val="440"/>
              </a:spcBef>
              <a:spcAft>
                <a:spcPts val="1200"/>
              </a:spcAft>
              <a:buSzPct val="105571"/>
              <a:buNone/>
            </a:pPr>
            <a:r>
              <a:rPr lang="en-US" sz="2200" dirty="0">
                <a:solidFill>
                  <a:srgbClr val="282828"/>
                </a:solidFill>
                <a:latin typeface="Calibri"/>
                <a:ea typeface="Calibri"/>
                <a:cs typeface="Calibri"/>
                <a:sym typeface="Calibri"/>
              </a:rPr>
              <a:t>A digital solution that allows easy, transparent, and automated booking management with proper time-slot allocation.</a:t>
            </a:r>
            <a:endParaRPr/>
          </a:p>
        </p:txBody>
      </p:sp>
      <p:sp>
        <p:nvSpPr>
          <p:cNvPr id="107" name="Google Shape;107;p2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003366"/>
              </a:buClr>
              <a:buSzPts val="3400"/>
              <a:buFont typeface="Times New Roman"/>
              <a:buNone/>
            </a:pPr>
            <a:r>
              <a:rPr lang="en-US" sz="3400" b="1">
                <a:solidFill>
                  <a:srgbClr val="003366"/>
                </a:solidFill>
                <a:latin typeface="Times New Roman"/>
                <a:ea typeface="Times New Roman"/>
                <a:cs typeface="Times New Roman"/>
                <a:sym typeface="Times New Roman"/>
              </a:rPr>
              <a:t>System Analysis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112"/>
        <p:cNvGrpSpPr/>
        <p:nvPr/>
      </p:nvGrpSpPr>
      <p:grpSpPr>
        <a:xfrm>
          <a:off x="0" y="0"/>
          <a:ext cx="0" cy="0"/>
          <a:chOff x="0" y="0"/>
          <a:chExt cx="0" cy="0"/>
        </a:xfrm>
      </p:grpSpPr>
      <p:sp>
        <p:nvSpPr>
          <p:cNvPr id="114" name="Google Shape;114;p23"/>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l" rtl="0">
              <a:lnSpc>
                <a:spcPct val="115000"/>
              </a:lnSpc>
              <a:spcBef>
                <a:spcPts val="0"/>
              </a:spcBef>
              <a:spcAft>
                <a:spcPts val="0"/>
              </a:spcAft>
              <a:buClr>
                <a:srgbClr val="282828"/>
              </a:buClr>
              <a:buSzPts val="2200"/>
              <a:buChar char="●"/>
            </a:pPr>
            <a:r>
              <a:rPr lang="en-US" sz="2200" b="1" dirty="0">
                <a:solidFill>
                  <a:srgbClr val="282828"/>
                </a:solidFill>
              </a:rPr>
              <a:t>Methodology:</a:t>
            </a:r>
            <a:endParaRPr b="1"/>
          </a:p>
          <a:p>
            <a:pPr marL="342900" lvl="0" indent="0" algn="l" rtl="0">
              <a:lnSpc>
                <a:spcPct val="115000"/>
              </a:lnSpc>
              <a:spcBef>
                <a:spcPts val="440"/>
              </a:spcBef>
              <a:spcAft>
                <a:spcPts val="0"/>
              </a:spcAft>
              <a:buSzPts val="1800"/>
              <a:buNone/>
            </a:pPr>
            <a:r>
              <a:rPr lang="en-US" sz="2200" dirty="0">
                <a:solidFill>
                  <a:srgbClr val="282828"/>
                </a:solidFill>
                <a:latin typeface="Calibri"/>
                <a:ea typeface="Calibri"/>
                <a:cs typeface="Calibri"/>
                <a:sym typeface="Calibri"/>
              </a:rPr>
              <a:t>Agile Development Model – Iterative and incremental approach with continuous feedback.</a:t>
            </a:r>
            <a:endParaRPr/>
          </a:p>
          <a:p>
            <a:pPr marL="342900" lvl="0" indent="-203200" algn="l" rtl="0">
              <a:lnSpc>
                <a:spcPct val="115000"/>
              </a:lnSpc>
              <a:spcBef>
                <a:spcPts val="440"/>
              </a:spcBef>
              <a:spcAft>
                <a:spcPts val="0"/>
              </a:spcAft>
              <a:buClr>
                <a:srgbClr val="282828"/>
              </a:buClr>
              <a:buSzPts val="2200"/>
              <a:buNone/>
            </a:pPr>
            <a:endParaRPr sz="2200">
              <a:solidFill>
                <a:srgbClr val="282828"/>
              </a:solidFill>
              <a:latin typeface="Calibri"/>
              <a:ea typeface="Calibri"/>
              <a:cs typeface="Calibri"/>
              <a:sym typeface="Calibri"/>
            </a:endParaRPr>
          </a:p>
          <a:p>
            <a:pPr marL="342900" lvl="0" indent="-342900" algn="l" rtl="0">
              <a:lnSpc>
                <a:spcPct val="115000"/>
              </a:lnSpc>
              <a:spcBef>
                <a:spcPts val="440"/>
              </a:spcBef>
              <a:spcAft>
                <a:spcPts val="0"/>
              </a:spcAft>
              <a:buClr>
                <a:srgbClr val="282828"/>
              </a:buClr>
              <a:buSzPts val="2200"/>
              <a:buChar char="●"/>
            </a:pPr>
            <a:r>
              <a:rPr lang="en-US" sz="2200" b="1" dirty="0">
                <a:solidFill>
                  <a:srgbClr val="282828"/>
                </a:solidFill>
              </a:rPr>
              <a:t>Technologies:</a:t>
            </a:r>
            <a:endParaRPr b="1"/>
          </a:p>
          <a:p>
            <a:pPr marL="342900" lvl="0" indent="0" algn="l" rtl="0">
              <a:lnSpc>
                <a:spcPct val="115000"/>
              </a:lnSpc>
              <a:spcBef>
                <a:spcPts val="440"/>
              </a:spcBef>
              <a:spcAft>
                <a:spcPts val="0"/>
              </a:spcAft>
              <a:buSzPts val="1800"/>
              <a:buNone/>
            </a:pPr>
            <a:r>
              <a:rPr lang="en-US" sz="2200" dirty="0">
                <a:solidFill>
                  <a:srgbClr val="282828"/>
                </a:solidFill>
                <a:latin typeface="Calibri"/>
                <a:ea typeface="Calibri"/>
                <a:cs typeface="Calibri"/>
                <a:sym typeface="Calibri"/>
              </a:rPr>
              <a:t>• Frontend: </a:t>
            </a:r>
            <a:r>
              <a:rPr lang="en-US" sz="2200" dirty="0" smtClean="0">
                <a:solidFill>
                  <a:srgbClr val="282828"/>
                </a:solidFill>
                <a:latin typeface="Calibri"/>
                <a:ea typeface="Calibri"/>
                <a:cs typeface="Calibri"/>
                <a:sym typeface="Calibri"/>
              </a:rPr>
              <a:t>React.js + </a:t>
            </a:r>
            <a:r>
              <a:rPr lang="en-US" sz="2200" dirty="0" err="1" smtClean="0">
                <a:solidFill>
                  <a:srgbClr val="282828"/>
                </a:solidFill>
                <a:latin typeface="Calibri"/>
                <a:ea typeface="Calibri"/>
                <a:cs typeface="Calibri"/>
                <a:sym typeface="Calibri"/>
              </a:rPr>
              <a:t>Vite</a:t>
            </a:r>
            <a:r>
              <a:rPr lang="en-US" sz="2200" dirty="0" smtClean="0">
                <a:solidFill>
                  <a:srgbClr val="282828"/>
                </a:solidFill>
                <a:latin typeface="Calibri"/>
                <a:ea typeface="Calibri"/>
                <a:cs typeface="Calibri"/>
                <a:sym typeface="Calibri"/>
              </a:rPr>
              <a:t> +Tailwind</a:t>
            </a:r>
            <a:endParaRPr/>
          </a:p>
          <a:p>
            <a:pPr marL="342900" lvl="0" indent="0" algn="l" rtl="0">
              <a:lnSpc>
                <a:spcPct val="115000"/>
              </a:lnSpc>
              <a:spcBef>
                <a:spcPts val="440"/>
              </a:spcBef>
              <a:spcAft>
                <a:spcPts val="0"/>
              </a:spcAft>
              <a:buSzPts val="1800"/>
              <a:buNone/>
            </a:pPr>
            <a:r>
              <a:rPr lang="en-US" sz="2200" dirty="0">
                <a:solidFill>
                  <a:srgbClr val="282828"/>
                </a:solidFill>
                <a:latin typeface="Calibri"/>
                <a:ea typeface="Calibri"/>
                <a:cs typeface="Calibri"/>
                <a:sym typeface="Calibri"/>
              </a:rPr>
              <a:t>• Backend: </a:t>
            </a:r>
            <a:r>
              <a:rPr lang="en-US" sz="2200" dirty="0" smtClean="0">
                <a:solidFill>
                  <a:srgbClr val="282828"/>
                </a:solidFill>
                <a:latin typeface="Calibri"/>
                <a:ea typeface="Calibri"/>
                <a:cs typeface="Calibri"/>
                <a:sym typeface="Calibri"/>
              </a:rPr>
              <a:t>Node.js + </a:t>
            </a:r>
            <a:r>
              <a:rPr lang="en-US" sz="2200" dirty="0">
                <a:solidFill>
                  <a:srgbClr val="282828"/>
                </a:solidFill>
                <a:latin typeface="Calibri"/>
                <a:ea typeface="Calibri"/>
                <a:cs typeface="Calibri"/>
                <a:sym typeface="Calibri"/>
              </a:rPr>
              <a:t>Express.js</a:t>
            </a:r>
            <a:endParaRPr/>
          </a:p>
          <a:p>
            <a:pPr marL="342900" lvl="0" indent="0" algn="l" rtl="0">
              <a:lnSpc>
                <a:spcPct val="115000"/>
              </a:lnSpc>
              <a:spcBef>
                <a:spcPts val="440"/>
              </a:spcBef>
              <a:spcAft>
                <a:spcPts val="0"/>
              </a:spcAft>
              <a:buSzPts val="1800"/>
              <a:buNone/>
            </a:pPr>
            <a:r>
              <a:rPr lang="en-US" sz="2200" dirty="0">
                <a:solidFill>
                  <a:srgbClr val="282828"/>
                </a:solidFill>
                <a:latin typeface="Calibri"/>
                <a:ea typeface="Calibri"/>
                <a:cs typeface="Calibri"/>
                <a:sym typeface="Calibri"/>
              </a:rPr>
              <a:t>• Database: </a:t>
            </a:r>
            <a:r>
              <a:rPr lang="en-US" sz="2200" dirty="0" err="1" smtClean="0">
                <a:solidFill>
                  <a:srgbClr val="282828"/>
                </a:solidFill>
                <a:latin typeface="Calibri"/>
                <a:ea typeface="Calibri"/>
                <a:cs typeface="Calibri"/>
                <a:sym typeface="Calibri"/>
              </a:rPr>
              <a:t>MongoDB</a:t>
            </a:r>
            <a:r>
              <a:rPr lang="en-US" sz="2200" dirty="0" smtClean="0">
                <a:solidFill>
                  <a:srgbClr val="282828"/>
                </a:solidFill>
                <a:latin typeface="Calibri"/>
                <a:ea typeface="Calibri"/>
                <a:cs typeface="Calibri"/>
                <a:sym typeface="Calibri"/>
              </a:rPr>
              <a:t> (with Mongoose)</a:t>
            </a:r>
            <a:endParaRPr/>
          </a:p>
          <a:p>
            <a:pPr marL="342900" lvl="0" indent="0" algn="l" rtl="0">
              <a:lnSpc>
                <a:spcPct val="115000"/>
              </a:lnSpc>
              <a:spcBef>
                <a:spcPts val="440"/>
              </a:spcBef>
              <a:spcAft>
                <a:spcPts val="0"/>
              </a:spcAft>
              <a:buSzPts val="1800"/>
              <a:buNone/>
            </a:pPr>
            <a:r>
              <a:rPr lang="en-US" sz="2200" dirty="0">
                <a:solidFill>
                  <a:srgbClr val="282828"/>
                </a:solidFill>
                <a:latin typeface="Calibri"/>
                <a:ea typeface="Calibri"/>
                <a:cs typeface="Calibri"/>
                <a:sym typeface="Calibri"/>
              </a:rPr>
              <a:t>• Tools: VS </a:t>
            </a:r>
            <a:r>
              <a:rPr lang="en-US" sz="2200" dirty="0" smtClean="0">
                <a:solidFill>
                  <a:srgbClr val="282828"/>
                </a:solidFill>
                <a:latin typeface="Calibri"/>
                <a:ea typeface="Calibri"/>
                <a:cs typeface="Calibri"/>
                <a:sym typeface="Calibri"/>
              </a:rPr>
              <a:t>Code/ Postman/ </a:t>
            </a:r>
            <a:r>
              <a:rPr lang="en-US" sz="2200" dirty="0" err="1">
                <a:solidFill>
                  <a:srgbClr val="282828"/>
                </a:solidFill>
                <a:latin typeface="Calibri"/>
                <a:ea typeface="Calibri"/>
                <a:cs typeface="Calibri"/>
                <a:sym typeface="Calibri"/>
              </a:rPr>
              <a:t>GitHub</a:t>
            </a:r>
            <a:endParaRPr/>
          </a:p>
          <a:p>
            <a:pPr marL="342900" lvl="0" indent="0" algn="l" rtl="0">
              <a:lnSpc>
                <a:spcPct val="115000"/>
              </a:lnSpc>
              <a:spcBef>
                <a:spcPts val="440"/>
              </a:spcBef>
              <a:spcAft>
                <a:spcPts val="1200"/>
              </a:spcAft>
              <a:buSzPts val="1800"/>
              <a:buNone/>
            </a:pPr>
            <a:r>
              <a:rPr lang="en-US" sz="2200" dirty="0">
                <a:solidFill>
                  <a:srgbClr val="282828"/>
                </a:solidFill>
                <a:latin typeface="Calibri"/>
                <a:ea typeface="Calibri"/>
                <a:cs typeface="Calibri"/>
                <a:sym typeface="Calibri"/>
              </a:rPr>
              <a:t>• Hosting: Render / </a:t>
            </a:r>
            <a:r>
              <a:rPr lang="en-US" sz="2200" dirty="0" err="1">
                <a:solidFill>
                  <a:srgbClr val="282828"/>
                </a:solidFill>
                <a:latin typeface="Calibri"/>
                <a:ea typeface="Calibri"/>
                <a:cs typeface="Calibri"/>
                <a:sym typeface="Calibri"/>
              </a:rPr>
              <a:t>Vercel</a:t>
            </a:r>
            <a:endParaRPr/>
          </a:p>
        </p:txBody>
      </p:sp>
      <p:sp>
        <p:nvSpPr>
          <p:cNvPr id="113" name="Google Shape;113;p2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003366"/>
              </a:buClr>
              <a:buSzPts val="3400"/>
              <a:buFont typeface="Times New Roman"/>
              <a:buNone/>
            </a:pPr>
            <a:r>
              <a:rPr lang="en-US" sz="3400" b="1">
                <a:solidFill>
                  <a:srgbClr val="003366"/>
                </a:solidFill>
                <a:latin typeface="Times New Roman"/>
                <a:ea typeface="Times New Roman"/>
                <a:cs typeface="Times New Roman"/>
                <a:sym typeface="Times New Roman"/>
              </a:rPr>
              <a:t>Methodology / Tools &amp; Technologies Used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118"/>
        <p:cNvGrpSpPr/>
        <p:nvPr/>
      </p:nvGrpSpPr>
      <p:grpSpPr>
        <a:xfrm>
          <a:off x="0" y="0"/>
          <a:ext cx="0" cy="0"/>
          <a:chOff x="0" y="0"/>
          <a:chExt cx="0" cy="0"/>
        </a:xfrm>
      </p:grpSpPr>
      <p:sp>
        <p:nvSpPr>
          <p:cNvPr id="120" name="Google Shape;120;p24"/>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0" algn="l" rtl="0">
              <a:lnSpc>
                <a:spcPct val="115000"/>
              </a:lnSpc>
              <a:spcBef>
                <a:spcPts val="0"/>
              </a:spcBef>
              <a:spcAft>
                <a:spcPts val="1200"/>
              </a:spcAft>
              <a:buSzPts val="1800"/>
              <a:buNone/>
            </a:pPr>
            <a:r>
              <a:rPr lang="en-US" sz="2200" dirty="0">
                <a:solidFill>
                  <a:srgbClr val="282828"/>
                </a:solidFill>
                <a:latin typeface="Calibri"/>
                <a:ea typeface="Calibri"/>
                <a:cs typeface="Calibri"/>
                <a:sym typeface="Calibri"/>
              </a:rPr>
              <a:t>The system aims to achieve an efficient, reliable, and time-saving appointment scheduling solution. Users will enjoy a seamless booking experience while barbers can effectively manage their time and services. Ultimately, it promotes better customer satisfaction and improved operational productivity for barbershops.</a:t>
            </a:r>
            <a:endParaRPr/>
          </a:p>
        </p:txBody>
      </p:sp>
      <p:sp>
        <p:nvSpPr>
          <p:cNvPr id="119" name="Google Shape;119;p2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003366"/>
              </a:buClr>
              <a:buSzPts val="3400"/>
              <a:buFont typeface="Times New Roman"/>
              <a:buNone/>
            </a:pPr>
            <a:r>
              <a:rPr lang="en-US" sz="3400" b="1">
                <a:solidFill>
                  <a:srgbClr val="003366"/>
                </a:solidFill>
                <a:latin typeface="Times New Roman"/>
                <a:ea typeface="Times New Roman"/>
                <a:cs typeface="Times New Roman"/>
                <a:sym typeface="Times New Roman"/>
              </a:rPr>
              <a:t>Expected Outcome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124"/>
        <p:cNvGrpSpPr/>
        <p:nvPr/>
      </p:nvGrpSpPr>
      <p:grpSpPr>
        <a:xfrm>
          <a:off x="0" y="0"/>
          <a:ext cx="0" cy="0"/>
          <a:chOff x="0" y="0"/>
          <a:chExt cx="0" cy="0"/>
        </a:xfrm>
      </p:grpSpPr>
      <p:sp>
        <p:nvSpPr>
          <p:cNvPr id="125" name="Google Shape;125;p25"/>
          <p:cNvSpPr txBox="1"/>
          <p:nvPr/>
        </p:nvSpPr>
        <p:spPr>
          <a:xfrm>
            <a:off x="1828800" y="2426737"/>
            <a:ext cx="5486400" cy="1352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003366"/>
              </a:buClr>
              <a:buSzPts val="6400"/>
              <a:buFont typeface="Times New Roman"/>
              <a:buNone/>
            </a:pPr>
            <a:r>
              <a:rPr lang="en-US" sz="6400" b="1" i="0" u="none" strike="noStrike" cap="none">
                <a:solidFill>
                  <a:srgbClr val="003366"/>
                </a:solidFill>
                <a:latin typeface="Times New Roman"/>
                <a:ea typeface="Times New Roman"/>
                <a:cs typeface="Times New Roman"/>
                <a:sym typeface="Times New Roman"/>
              </a:rPr>
              <a:t>Thank You</a:t>
            </a:r>
            <a:endParaRPr sz="1800" b="0" i="0" u="none" strike="noStrike" cap="none">
              <a:solidFill>
                <a:schemeClr val="dk1"/>
              </a:solidFill>
              <a:latin typeface="Arial"/>
              <a:ea typeface="Arial"/>
              <a:cs typeface="Arial"/>
              <a:sym typeface="Aria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0</TotalTime>
  <Words>711</Words>
  <PresentationFormat>On-screen Show (4:3)</PresentationFormat>
  <Paragraphs>81</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Concourse</vt:lpstr>
      <vt:lpstr>         Barber Schedule Booking                            system</vt:lpstr>
      <vt:lpstr>Project Members</vt:lpstr>
      <vt:lpstr>Introduction / Background</vt:lpstr>
      <vt:lpstr>Objectives Of The Project</vt:lpstr>
      <vt:lpstr>Problem Definition</vt:lpstr>
      <vt:lpstr>Abstract</vt:lpstr>
      <vt:lpstr>Hardware &amp; Software Requirements</vt:lpstr>
      <vt:lpstr>Scope Of The Project</vt:lpstr>
      <vt:lpstr>System Analysis</vt:lpstr>
      <vt:lpstr>Methodology / Tools &amp; Technologies Used</vt:lpstr>
      <vt:lpstr>Expected Outcome</vt:lpstr>
      <vt:lpstr>Slide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Barber Scheduled Booking                            system</dc:title>
  <cp:lastModifiedBy>DELL</cp:lastModifiedBy>
  <cp:revision>2</cp:revision>
  <dcterms:modified xsi:type="dcterms:W3CDTF">2025-10-16T10:07:26Z</dcterms:modified>
</cp:coreProperties>
</file>